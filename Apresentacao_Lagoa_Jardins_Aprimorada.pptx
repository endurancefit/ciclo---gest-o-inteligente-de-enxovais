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5400">
                <a:solidFill>
                  <a:srgbClr val="FFFFFF"/>
                </a:solidFill>
              </a:defRPr>
            </a:pPr>
            <a:r>
              <a:t>Prestação de Contas e Gestão Operacional</a:t>
            </a:r>
          </a:p>
          <a:p>
            <a:pPr>
              <a:defRPr sz="3200">
                <a:solidFill>
                  <a:srgbClr val="FF8C00"/>
                </a:solidFill>
              </a:defRPr>
            </a:pPr>
            <a:r>
              <a:t>Lagoa Jardins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Jonatan Almeida - Gerente Geral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4D40"/>
                </a:solidFill>
              </a:defRPr>
            </a:pPr>
            <a:r>
              <a:t>Nossos Indicadores (KPIs) e Resultados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286000"/>
          </a:xfrm>
          <a:prstGeom prst="roundRect">
            <a:avLst/>
          </a:prstGeom>
          <a:solidFill>
            <a:srgbClr val="004D4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GRI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Reputação Online</a:t>
            </a:r>
          </a:p>
          <a:p>
            <a:pPr>
              <a:defRPr b="1" sz="3600">
                <a:solidFill>
                  <a:srgbClr val="FF8C00"/>
                </a:solidFill>
              </a:defRPr>
            </a:pPr>
            <a:r>
              <a:t>95.0 (+8.01)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004D4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14630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CSAT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Satisfação Unidade</a:t>
            </a:r>
          </a:p>
          <a:p>
            <a:pPr>
              <a:defRPr b="1" sz="3600">
                <a:solidFill>
                  <a:srgbClr val="FF8C00"/>
                </a:solidFill>
              </a:defRPr>
            </a:pPr>
            <a:r>
              <a:t>4.04 (+0.13)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2286000"/>
          </a:xfrm>
          <a:prstGeom prst="roundRect">
            <a:avLst/>
          </a:prstGeom>
          <a:solidFill>
            <a:srgbClr val="004D4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291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NPS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Lealdade</a:t>
            </a:r>
          </a:p>
          <a:p>
            <a:pPr>
              <a:defRPr b="1" sz="3600">
                <a:solidFill>
                  <a:srgbClr val="FF8C00"/>
                </a:solidFill>
              </a:defRPr>
            </a:pPr>
            <a:r>
              <a:t>51.85 (+17.07)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4D40"/>
                </a:solidFill>
              </a:defRPr>
            </a:pPr>
            <a:r>
              <a:t>Abril (Parcial): Evolução Contínua</a:t>
            </a:r>
          </a:p>
          <a:p>
            <a:pPr>
              <a:defRPr sz="3200">
                <a:solidFill>
                  <a:srgbClr val="FF8C00"/>
                </a:solidFill>
              </a:defRPr>
            </a:pPr>
            <a:r>
              <a:t>GRI: 96.2  |  CSAT: 4.15  |  NPS: 46.15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4D40"/>
                </a:solidFill>
              </a:defRPr>
            </a:pPr>
            <a:r>
              <a:t>Gestão Financeira (Taxa Condominial)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solidFill>
            <a:srgbClr val="F0F0F0"/>
          </a:solidFill>
          <a:ln>
            <a:solidFill>
              <a:srgbClr val="00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4D40"/>
                </a:solidFill>
              </a:defRPr>
            </a:pPr>
            <a:r>
              <a:t>Casas 2 Quartos: R$ 88,95 </a:t>
            </a:r>
            <a:r>
              <a:rPr b="1">
                <a:solidFill>
                  <a:srgbClr val="FF8C00"/>
                </a:solidFill>
              </a:rPr>
              <a:t> » Com 5% desconto: R$ 84,50 (até dia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0972800" cy="914400"/>
          </a:xfrm>
          <a:prstGeom prst="rect">
            <a:avLst/>
          </a:prstGeom>
          <a:solidFill>
            <a:srgbClr val="F0F0F0"/>
          </a:solidFill>
          <a:ln>
            <a:solidFill>
              <a:srgbClr val="00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4D40"/>
                </a:solidFill>
              </a:defRPr>
            </a:pPr>
            <a:r>
              <a:t>Casas 3 Quartos: R$ 107,35 </a:t>
            </a:r>
            <a:r>
              <a:rPr b="1">
                <a:solidFill>
                  <a:srgbClr val="FF8C00"/>
                </a:solidFill>
              </a:rPr>
              <a:t> » Com 5% desconto: R$ 101,98 (até dia 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solidFill>
            <a:srgbClr val="004D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8C00"/>
                </a:solidFill>
              </a:defRPr>
            </a:pPr>
            <a:r>
              <a:t>Clube de Vantagens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Desconto de 25% na pensão antecipada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10% de desconto na estação Yellot Mob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4D40"/>
                </a:solidFill>
              </a:defRPr>
            </a:pPr>
            <a:r>
              <a:t>Ações de Manutenção: Gestão Hídrica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004D4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4D40"/>
                </a:solidFill>
              </a:defRPr>
            </a:pPr>
            <a:r>
              <a:t>[ESPAÇO PARA IMAGEM]</a:t>
            </a:r>
            <a:br/>
            <a:r>
              <a:t>Manutenção da bomba ou poço artesiano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04D40"/>
                </a:solidFill>
              </a:defRPr>
            </a:pPr>
            <a:r>
              <a:t>• Intervenção rápida na bomba do poço (queima resolvida).</a:t>
            </a:r>
          </a:p>
          <a:p>
            <a:pPr>
              <a:spcAft>
                <a:spcPts val="1200"/>
              </a:spcAft>
              <a:defRPr sz="2000">
                <a:solidFill>
                  <a:srgbClr val="004D40"/>
                </a:solidFill>
              </a:defRPr>
            </a:pPr>
            <a:r>
              <a:t>• Impacto: Redução drástica no custo de água.</a:t>
            </a:r>
          </a:p>
          <a:p>
            <a:pPr>
              <a:spcAft>
                <a:spcPts val="1200"/>
              </a:spcAft>
              <a:defRPr sz="2000">
                <a:solidFill>
                  <a:srgbClr val="004D40"/>
                </a:solidFill>
              </a:defRPr>
            </a:pPr>
            <a:r>
              <a:t>• Segurança: Laudo mensal de potabilidade garantido.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4D40"/>
                </a:solidFill>
              </a:defRPr>
            </a:pPr>
            <a:r>
              <a:t>Ações de Manutenção: Conforto e Privacidade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004D4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4D40"/>
                </a:solidFill>
              </a:defRPr>
            </a:pPr>
            <a:r>
              <a:t>[ESPAÇO PARA IMAGEM]</a:t>
            </a:r>
            <a:br/>
            <a:r>
              <a:t>Sofás reformados ou insulfilm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04D40"/>
                </a:solidFill>
              </a:defRPr>
            </a:pPr>
            <a:r>
              <a:t>• Reforma de 13 sofás (estrutura e estofado).</a:t>
            </a:r>
          </a:p>
          <a:p>
            <a:pPr>
              <a:spcAft>
                <a:spcPts val="1200"/>
              </a:spcAft>
              <a:defRPr sz="2000">
                <a:solidFill>
                  <a:srgbClr val="004D40"/>
                </a:solidFill>
              </a:defRPr>
            </a:pPr>
            <a:r>
              <a:t>• Troca de insulfilm danificados (térmico/privacidade).</a:t>
            </a:r>
          </a:p>
          <a:p>
            <a:pPr>
              <a:spcAft>
                <a:spcPts val="1200"/>
              </a:spcAft>
              <a:defRPr sz="2000">
                <a:solidFill>
                  <a:srgbClr val="004D40"/>
                </a:solidFill>
              </a:defRPr>
            </a:pPr>
            <a:r>
              <a:t>• Manutenção de janelas, portas, portais e alizares.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4D40"/>
                </a:solidFill>
              </a:defRPr>
            </a:pPr>
            <a:r>
              <a:t>Ações de Manutenção: Prevenção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004D4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4D40"/>
                </a:solidFill>
              </a:defRPr>
            </a:pPr>
            <a:r>
              <a:t>[ESPAÇO PARA IMAGEM]</a:t>
            </a:r>
            <a:br/>
            <a:r>
              <a:t>Dedetização ou laje do restaurante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04D40"/>
                </a:solidFill>
              </a:defRPr>
            </a:pPr>
            <a:r>
              <a:t>• Dedetização preventiva em 130 casas (período de chuvas).</a:t>
            </a:r>
          </a:p>
          <a:p>
            <a:pPr>
              <a:spcAft>
                <a:spcPts val="1200"/>
              </a:spcAft>
              <a:defRPr sz="2000">
                <a:solidFill>
                  <a:srgbClr val="004D40"/>
                </a:solidFill>
              </a:defRPr>
            </a:pPr>
            <a:r>
              <a:t>• Reforma completa da laje do Restaurante.</a:t>
            </a:r>
          </a:p>
          <a:p>
            <a:pPr>
              <a:spcAft>
                <a:spcPts val="1200"/>
              </a:spcAft>
              <a:defRPr sz="2000">
                <a:solidFill>
                  <a:srgbClr val="004D40"/>
                </a:solidFill>
              </a:defRPr>
            </a:pPr>
            <a:r>
              <a:t>• Impermeabilização e pintura interna (Custo ZERO ao condomínio).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4D40"/>
                </a:solidFill>
              </a:defRPr>
            </a:pPr>
            <a:r>
              <a:t>Processos Inteligentes e Agilidade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04D40"/>
                </a:solidFill>
              </a:defRPr>
            </a:pPr>
            <a:r>
              <a:t>Check-in e Voucher</a:t>
            </a:r>
          </a:p>
          <a:p>
            <a:pPr>
              <a:defRPr sz="1800"/>
            </a:pPr>
            <a:r>
              <a:t>Marque com antecedência. Voucher obrigatório no check-in.</a:t>
            </a:r>
          </a:p>
          <a:p>
            <a:pPr>
              <a:spcBef>
                <a:spcPts val="1800"/>
              </a:spcBef>
              <a:defRPr b="1" sz="2400">
                <a:solidFill>
                  <a:srgbClr val="FF8C00"/>
                </a:solidFill>
              </a:defRPr>
            </a:pPr>
            <a:r>
              <a:t>FNRH Online (Lei 15.004/2025)</a:t>
            </a:r>
          </a:p>
          <a:p>
            <a:pPr>
              <a:defRPr sz="1800"/>
            </a:pPr>
            <a:r>
              <a:t>Link enviado 5 dias antes. Extingue a burocracia na recepção.</a:t>
            </a:r>
            <a:br/>
            <a:r>
              <a:t>Login: Data Check-in + (Localizador/Sobrenome OU CPF).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⚠ Segurança Jurídica: Regras para Menores (ECA)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200">
                <a:solidFill>
                  <a:srgbClr val="FFFFFF"/>
                </a:solidFill>
              </a:defRPr>
            </a:pPr>
            <a:r>
              <a:t>Com os Pais: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Indispensável RG ou Certidão + Documento dos pais.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Com Terceiros: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Autorização por escrito com FIRMA RECONHECIDA.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Desacompanhado: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Autorização judicial ou dos pais (firma reconhecida).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4D40"/>
                </a:solidFill>
              </a:defRPr>
            </a:pPr>
            <a:r>
              <a:t>Ritmo, Cor e Diversão: Feriadão na Lagoa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★ Alongamento aquático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★ Rádio Jardins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★ Desafio do Balão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★ Quiz Maluco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★ Oficina de Slime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4572000" cy="36576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2011680"/>
            <a:ext cx="42062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8C00"/>
                </a:solidFill>
              </a:defRPr>
            </a:pPr>
            <a:r>
              <a:t>Especial de Páscoa</a:t>
            </a:r>
          </a:p>
          <a:p>
            <a:pPr>
              <a:defRPr sz="2000">
                <a:solidFill>
                  <a:srgbClr val="004D40"/>
                </a:solidFill>
              </a:defRPr>
            </a:pPr>
            <a:r>
              <a:t>• Coelho Colorido (04/04)</a:t>
            </a:r>
          </a:p>
          <a:p>
            <a:pPr>
              <a:defRPr sz="2000">
                <a:solidFill>
                  <a:srgbClr val="004D40"/>
                </a:solidFill>
              </a:defRPr>
            </a:pPr>
            <a:r>
              <a:t>• Master Chef (04/04)</a:t>
            </a:r>
          </a:p>
          <a:p>
            <a:pPr>
              <a:defRPr sz="2000">
                <a:solidFill>
                  <a:srgbClr val="004D40"/>
                </a:solidFill>
              </a:defRPr>
            </a:pPr>
            <a:r>
              <a:t>• Entrega de Ovos (05/04)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Agenda Musical e Contatos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8C00"/>
                </a:solidFill>
              </a:defRPr>
            </a:pPr>
            <a:r>
              <a:t>Shows Confirmados (18h):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04/04: D'Borges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11/04: Talles Guimarães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18/04: Neto Alves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25/04: Marcel Araújo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8C00"/>
                </a:solidFill>
              </a:defRPr>
            </a:pPr>
            <a:r>
              <a:t>Canais de Atendimento: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Central: 0800 960 5040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Recepção: (64) 3513-1100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