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ackground_jardins_1776880975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solidFill>
            <a:srgbClr val="00332A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b="1" sz="4800">
                <a:solidFill>
                  <a:srgbClr val="FFFFFF"/>
                </a:solidFill>
              </a:defRPr>
            </a:pPr>
            <a:r>
              <a:t>PRESTAÇÃO DE CONTAS</a:t>
            </a:r>
          </a:p>
          <a:p>
            <a:pPr>
              <a:defRPr b="1" sz="3200">
                <a:solidFill>
                  <a:srgbClr val="FF6600"/>
                </a:solidFill>
              </a:defRPr>
            </a:pPr>
            <a:r>
              <a:t>LAGOA JARDINS</a:t>
            </a:r>
          </a:p>
          <a:p>
            <a:br/>
            <a:pPr>
              <a:defRPr sz="2000">
                <a:solidFill>
                  <a:srgbClr val="FFFFFF"/>
                </a:solidFill>
              </a:defRPr>
            </a:pPr>
            <a:r>
              <a:t>Gestão Operacional | Jonatan Almeida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NOSSOS INDICADORES E RESULTADOS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Acompanhamento Mensal (Março/Abril)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834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📈</a:t>
            </a:r>
          </a:p>
          <a:p>
            <a:pPr>
              <a:defRPr b="1" sz="2800">
                <a:solidFill>
                  <a:srgbClr val="00332A"/>
                </a:solidFill>
              </a:defRPr>
            </a:pPr>
            <a:r>
              <a:t>GRI</a:t>
            </a:r>
          </a:p>
          <a:p>
            <a:pPr>
              <a:defRPr b="1" sz="4800">
                <a:solidFill>
                  <a:srgbClr val="00332A"/>
                </a:solidFill>
              </a:defRPr>
            </a:pPr>
            <a:r>
              <a:t>95.0</a:t>
            </a:r>
          </a:p>
          <a:p>
            <a:pPr>
              <a:defRPr sz="1600">
                <a:solidFill>
                  <a:srgbClr val="009600"/>
                </a:solidFill>
              </a:defRPr>
            </a:pPr>
            <a:r>
              <a:t>Tendência: +8.01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2834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👥</a:t>
            </a:r>
          </a:p>
          <a:p>
            <a:pPr>
              <a:defRPr b="1" sz="2800">
                <a:solidFill>
                  <a:srgbClr val="00332A"/>
                </a:solidFill>
              </a:defRPr>
            </a:pPr>
            <a:r>
              <a:t>CSAT</a:t>
            </a:r>
          </a:p>
          <a:p>
            <a:pPr>
              <a:defRPr b="1" sz="4800">
                <a:solidFill>
                  <a:srgbClr val="00332A"/>
                </a:solidFill>
              </a:defRPr>
            </a:pPr>
            <a:r>
              <a:t>4.04</a:t>
            </a:r>
          </a:p>
          <a:p>
            <a:pPr>
              <a:defRPr sz="1600">
                <a:solidFill>
                  <a:srgbClr val="009600"/>
                </a:solidFill>
              </a:defRPr>
            </a:pPr>
            <a:r>
              <a:t>Tendência: +0.13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2834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🏆</a:t>
            </a:r>
          </a:p>
          <a:p>
            <a:pPr>
              <a:defRPr b="1" sz="2800">
                <a:solidFill>
                  <a:srgbClr val="00332A"/>
                </a:solidFill>
              </a:defRPr>
            </a:pPr>
            <a:r>
              <a:t>NPS</a:t>
            </a:r>
          </a:p>
          <a:p>
            <a:pPr>
              <a:defRPr b="1" sz="4800">
                <a:solidFill>
                  <a:srgbClr val="00332A"/>
                </a:solidFill>
              </a:defRPr>
            </a:pPr>
            <a:r>
              <a:t>51.85</a:t>
            </a:r>
          </a:p>
          <a:p>
            <a:pPr>
              <a:defRPr sz="1600">
                <a:solidFill>
                  <a:srgbClr val="009600"/>
                </a:solidFill>
              </a:defRPr>
            </a:pPr>
            <a:r>
              <a:t>Tendência: +17.07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GESTÃO FINANCEIRA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Taxa Condominial Semanal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Casas 2 Quartos:   </a:t>
            </a:r>
            <a:r>
              <a:rPr b="1"/>
              <a:t>R$ 88,95</a:t>
            </a:r>
          </a:p>
          <a:p>
            <a:pPr>
              <a:defRPr sz="1800">
                <a:solidFill>
                  <a:srgbClr val="FF6600"/>
                </a:solidFill>
              </a:defRPr>
            </a:pPr>
            <a:r>
              <a:t>Valor com desconto até dia 05: R$ 84,50 (5% Desc.)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515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Casas 3 Quartos:   </a:t>
            </a:r>
            <a:r>
              <a:rPr b="1"/>
              <a:t>R$ 107,35</a:t>
            </a:r>
          </a:p>
          <a:p>
            <a:pPr>
              <a:defRPr sz="1800">
                <a:solidFill>
                  <a:srgbClr val="FF6600"/>
                </a:solidFill>
              </a:defRPr>
            </a:pPr>
            <a:r>
              <a:t>Valor com desconto até dia 05: R$ 101,98 (5% Desc.)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10515600" cy="1371600"/>
          </a:xfrm>
          <a:prstGeom prst="rect">
            <a:avLst/>
          </a:prstGeom>
          <a:solidFill>
            <a:srgbClr val="0033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2600">
                <a:solidFill>
                  <a:srgbClr val="FF6600"/>
                </a:solidFill>
              </a:defRPr>
            </a:pPr>
            <a:r>
              <a:t>👑 CLUBE DE VANTAGENS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25% Off Pensão Antecipada | 10% Off Estação Yellot Mob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AÇÕES DE MANUTENÇÃO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Gestão Hídrica Inteligente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Intervenção imediata na bomba do poço (queima resolvida).</a:t>
            </a:r>
          </a:p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Poço artesiano como fonte principal = ECONOMIA REAL.</a:t>
            </a:r>
          </a:p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Potabilidade Garantida: Laudo mensal rigoroso.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846320" cy="4114800"/>
          </a:xfrm>
          <a:prstGeom prst="rect">
            <a:avLst/>
          </a:prstGeom>
          <a:solidFill>
            <a:srgbClr val="E0E0E0"/>
          </a:solidFill>
          <a:ln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332A"/>
                </a:solidFill>
              </a:defRPr>
            </a:pPr>
            <a:r>
              <a:t>FOTO: Bomba / Poço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AÇÕES DE MANUTENÇÃO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Conforto e Privacidade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Reforma estrutural e técnica de 13 sofás.</a:t>
            </a:r>
          </a:p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Troca de insulfilm danificado nas janelas.</a:t>
            </a:r>
          </a:p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Revisão de aberturas: Janelas, Portas e Alizares.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846320" cy="4114800"/>
          </a:xfrm>
          <a:prstGeom prst="rect">
            <a:avLst/>
          </a:prstGeom>
          <a:solidFill>
            <a:srgbClr val="E0E0E0"/>
          </a:solidFill>
          <a:ln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332A"/>
                </a:solidFill>
              </a:defRPr>
            </a:pPr>
            <a:r>
              <a:t>FOTO: Sofás / Insulfilm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AÇÕES DE MANUTENÇÃO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Prevenção e Melhorias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Dedetização preventiva em 100% das 130 casas.</a:t>
            </a:r>
          </a:p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Reforma da laje e impermeabilização do Restaurante.</a:t>
            </a:r>
          </a:p>
          <a:p>
            <a:pPr>
              <a:spcAft>
                <a:spcPts val="1400"/>
              </a:spcAft>
              <a:defRPr sz="2000">
                <a:solidFill>
                  <a:srgbClr val="00332A"/>
                </a:solidFill>
              </a:defRPr>
            </a:pPr>
            <a:r>
              <a:t>• IMPORTANTE: Obra realizada SEM CUSTO ao condomínio.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846320" cy="4114800"/>
          </a:xfrm>
          <a:prstGeom prst="rect">
            <a:avLst/>
          </a:prstGeom>
          <a:solidFill>
            <a:srgbClr val="E0E0E0"/>
          </a:solidFill>
          <a:ln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332A"/>
                </a:solidFill>
              </a:defRPr>
            </a:pPr>
            <a:r>
              <a:t>FOTO: Restaurant / Dedetização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PROCESSOS INTELIGENTES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Check-in e FNRH Digital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663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FF6600"/>
                </a:solidFill>
              </a:defRPr>
            </a:pPr>
            <a:r>
              <a:t>Check-in &amp; Voucher</a:t>
            </a:r>
          </a:p>
          <a:p>
            <a:br/>
            <a:pPr>
              <a:defRPr sz="2000">
                <a:solidFill>
                  <a:srgbClr val="00332A"/>
                </a:solidFill>
              </a:defRPr>
            </a:pPr>
            <a:r>
              <a:t>Voucher enviado na reserva. Apresentação obrigatória para segurança.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63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FF6600"/>
                </a:solidFill>
              </a:defRPr>
            </a:pPr>
            <a:r>
              <a:t>FNRH Online (Lei 15.004/2025)</a:t>
            </a:r>
          </a:p>
          <a:p>
            <a:br/>
            <a:pPr>
              <a:defRPr sz="2000">
                <a:solidFill>
                  <a:srgbClr val="00332A"/>
                </a:solidFill>
              </a:defRPr>
            </a:pPr>
            <a:r>
              <a:t>Link enviado 5 dias antes. Preenchimento não editável.</a:t>
            </a:r>
            <a:br/>
            <a:r>
              <a:t>Agilidade total na chegada.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cess 1"/>
          <p:cNvSpPr/>
          <p:nvPr/>
        </p:nvSpPr>
        <p:spPr>
          <a:xfrm>
            <a:off x="3657600" y="914400"/>
            <a:ext cx="4873752" cy="1371600"/>
          </a:xfrm>
          <a:prstGeom prst="flowChartProcess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SIRIUS: SEGURANÇA JURÍDICA (ECA)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solidFill>
            <a:srgbClr val="00403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6600"/>
                </a:solidFill>
              </a:defRPr>
            </a:pPr>
            <a:r>
              <a:t>Pais:  </a:t>
            </a:r>
            <a:r>
              <a:rPr b="0">
                <a:solidFill>
                  <a:srgbClr val="FFFFFF"/>
                </a:solidFill>
              </a:rPr>
              <a:t>RG/Certidão + Doc Original dos 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solidFill>
            <a:srgbClr val="00403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6600"/>
                </a:solidFill>
              </a:defRPr>
            </a:pPr>
            <a:r>
              <a:t>Terceiros:  </a:t>
            </a:r>
            <a:r>
              <a:rPr b="0">
                <a:solidFill>
                  <a:srgbClr val="FFFFFF"/>
                </a:solidFill>
              </a:rPr>
              <a:t>Autorização reconhecida em CARTÓRIO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solidFill>
            <a:srgbClr val="00403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6600"/>
                </a:solidFill>
              </a:defRPr>
            </a:pPr>
            <a:r>
              <a:t>Sozinhos:  </a:t>
            </a:r>
            <a:r>
              <a:rPr b="0">
                <a:solidFill>
                  <a:srgbClr val="FFFFFF"/>
                </a:solidFill>
              </a:rPr>
              <a:t>Autorização Judicial ou Parental (Firma reconhecida)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reation_background_17768810574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2A"/>
                </a:solidFill>
                <a:latin typeface="Calibri Light"/>
              </a:defRPr>
            </a:pPr>
            <a:r>
              <a:t>RITMO, COR E DIVERSÃO</a:t>
            </a:r>
          </a:p>
          <a:p>
            <a:pPr>
              <a:defRPr sz="1400">
                <a:solidFill>
                  <a:srgbClr val="FF6600"/>
                </a:solidFill>
                <a:latin typeface="Calibri"/>
              </a:defRPr>
            </a:pPr>
            <a:r>
              <a:t>Programação Especial de Páscoa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828800"/>
            <a:ext cx="5486400" cy="4114800"/>
          </a:xfrm>
          <a:prstGeom prst="roundRect">
            <a:avLst/>
          </a:prstGeom>
          <a:solidFill>
            <a:srgbClr val="00332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b="1" sz="2800">
                <a:solidFill>
                  <a:srgbClr val="FF6600"/>
                </a:solidFill>
              </a:defRPr>
            </a:pPr>
            <a:r>
              <a:t>Destaques Feriadão: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★ Coelho Colorido (04/04)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★ Master Chef Junior (04/04)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★ Entrega de Ovos (05/04)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★ Rádio Jardins &amp; Gincanas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6600"/>
                </a:solidFill>
              </a:defRPr>
            </a:pPr>
            <a:r>
              <a:t>AGENDA MUSICAL &amp; CONTATOS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04/04 • D'Borges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11/04 • Talles Guimarães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18/04 • Neto Alves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25/04 • Marcel Araújo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486400"/>
            <a:ext cx="11823192" cy="1371600"/>
          </a:xfrm>
          <a:prstGeom prst="rect">
            <a:avLst/>
          </a:prstGeom>
          <a:solidFill>
            <a:srgbClr val="001F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FF6600"/>
                </a:solidFill>
              </a:defRPr>
            </a:pPr>
            <a:r>
              <a:t>Central: 0800 960 5040  |  Recepção: (64) 3513-1100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